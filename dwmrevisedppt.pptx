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65" r:id="rId19"/>
    <p:sldId id="266" r:id="rId20"/>
    <p:sldId id="267" r:id="rId21"/>
  </p:sldIdLst>
  <p:sldSz cx="12192000" cy="6858000"/>
  <p:notesSz cx="6858000" cy="9144000"/>
  <p:embeddedFontLst>
    <p:embeddedFont>
      <p:font typeface="Plus Jakarta Sans"/>
      <p:bold r:id="rId22"/>
      <p: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14826"/>
            <a:ext cx="10972800" cy="733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514826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6381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91675" y="609600"/>
            <a:ext cx="2488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DATA WAREHOUSING &amp;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57462"/>
            <a:ext cx="11251406" cy="6704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Plus Jakarta Sans"/>
              </a:rPr>
              <a:t>MARKET MINER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18433"/>
            <a:ext cx="1071562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Systematic Stock Trend Analysis via Data Warehousing and Pattern Mining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609600"/>
            <a:ext cx="1857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EA5E9"/>
                </a:solidFill>
                <a:latin typeface="Plus Jakarta Sans"/>
              </a:rPr>
              <a:t>PBL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29151"/>
            <a:ext cx="115824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PROJECT AUTHORS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29176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Veer Jain  •  Parth Dhoot  •  Bhavyansh Garewal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957762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271712"/>
            <a:ext cx="5391150" cy="1152525"/>
          </a:xfrm>
          <a:prstGeom prst="roundRect">
            <a:avLst>
              <a:gd name="adj" fmla="val 991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371725"/>
            <a:ext cx="539115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14750"/>
            <a:ext cx="5391150" cy="9525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614737"/>
            <a:ext cx="5391150" cy="1152525"/>
          </a:xfrm>
          <a:prstGeom prst="roundRect">
            <a:avLst>
              <a:gd name="adj" fmla="val 991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248900" y="5148262"/>
            <a:ext cx="1066800" cy="2667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16731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1460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2614612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957637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850" y="3857625"/>
            <a:ext cx="2190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Introduction to MarketMiner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0" y="5205412"/>
            <a:ext cx="895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EA5E9"/>
                </a:solidFill>
                <a:latin typeface="Plus Jakarta Sans"/>
              </a:rPr>
              <a:t>Core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795587"/>
            <a:ext cx="502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Stock markets generate vast streams of historical transactional records daily.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2895600"/>
            <a:ext cx="5772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Raw market records are too large and complex to analyze manually.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238625"/>
            <a:ext cx="6167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Delivers centralized, structured historical storage optimized for queries.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4138612"/>
            <a:ext cx="50292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Extracts actionable patterns, trends, and market relationships automatically.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7300" y="5181600"/>
            <a:ext cx="68460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MarketMiner combines Warehousing &amp; Mining for systematic stock analysis.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3950" y="2500312"/>
            <a:ext cx="193774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High Volume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2600325"/>
            <a:ext cx="21252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Manual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43350"/>
            <a:ext cx="19877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Warehousing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3225" y="3843337"/>
            <a:ext cx="133016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 Mining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514475"/>
            <a:ext cx="5202435" cy="481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514475"/>
            <a:ext cx="38100" cy="48101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16835" y="2309812"/>
            <a:ext cx="5465564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16835" y="2976562"/>
            <a:ext cx="5465564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16835" y="3643312"/>
            <a:ext cx="5465564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16835" y="4310062"/>
            <a:ext cx="5465564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16835" y="4976812"/>
            <a:ext cx="5465564" cy="55245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16860" y="24526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16860" y="31194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16860" y="37861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16860" y="445293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16860" y="5119687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317527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RESEARCH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Problem Statement &amp;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3703290"/>
            <a:ext cx="464998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Large stock datasets contain rich financial signal, but identifying recurring trends and market patterns directly from unorganized raw records is exceedingly difficult.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3312765"/>
            <a:ext cx="23502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3985" y="245268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5960" y="2486025"/>
            <a:ext cx="3679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Collect &amp; organize historical market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3985" y="311943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5960" y="3152775"/>
            <a:ext cx="4000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Clean, transform, and standardize raw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3985" y="378618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5960" y="3819525"/>
            <a:ext cx="4619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Store analytical records in a centralized warehouse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3985" y="445293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5960" y="4486275"/>
            <a:ext cx="4595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Cluster similar stocks &amp; discover frequent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3985" y="5119687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5960" y="5153025"/>
            <a:ext cx="4214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Plus Jakarta Sans"/>
              </a:rPr>
              <a:t>Visualize and interpret analytical mining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81462"/>
            <a:ext cx="10972800" cy="819150"/>
          </a:xfrm>
          <a:prstGeom prst="roundRect">
            <a:avLst>
              <a:gd name="adj" fmla="val 139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938462"/>
            <a:ext cx="1165621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013346" y="2938462"/>
            <a:ext cx="1165621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17093" y="2938462"/>
            <a:ext cx="1165621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20840" y="2938462"/>
            <a:ext cx="1165621" cy="76200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24587" y="2938462"/>
            <a:ext cx="1165621" cy="762000"/>
          </a:xfrm>
          <a:prstGeom prst="roundRect">
            <a:avLst>
              <a:gd name="adj" fmla="val 12500"/>
            </a:avLst>
          </a:prstGeom>
          <a:solidFill>
            <a:srgbClr val="E0E7FF"/>
          </a:solidFill>
          <a:ln w="952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628334" y="2938462"/>
            <a:ext cx="1165621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32081" y="2938462"/>
            <a:ext cx="1165621" cy="762000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35828" y="2947987"/>
            <a:ext cx="1146571" cy="742950"/>
          </a:xfrm>
          <a:prstGeom prst="roundRect">
            <a:avLst>
              <a:gd name="adj" fmla="val 1282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47083" y="4310062"/>
            <a:ext cx="9525" cy="361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87469" y="4310062"/>
            <a:ext cx="9525" cy="3619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421" y="3252787"/>
            <a:ext cx="8572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168" y="3252787"/>
            <a:ext cx="8572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915" y="3252787"/>
            <a:ext cx="8572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662" y="3252787"/>
            <a:ext cx="857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409" y="3252787"/>
            <a:ext cx="857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156" y="3252787"/>
            <a:ext cx="857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903" y="3252787"/>
            <a:ext cx="8572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685" y="3100387"/>
            <a:ext cx="17145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7095" y="3100387"/>
            <a:ext cx="2381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654" y="3100387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4589" y="3100387"/>
            <a:ext cx="23812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148" y="3100387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5895" y="3100387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9642" y="3100387"/>
            <a:ext cx="1905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99576" y="3100387"/>
            <a:ext cx="219075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End-to-End System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0550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Stock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4296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Collection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98043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Cleaning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1790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ETL Phase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537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730A3"/>
                </a:solidFill>
                <a:latin typeface="Plus Jakarta Sans"/>
              </a:rPr>
              <a:t>Warehouse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9284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172A"/>
                </a:solidFill>
                <a:latin typeface="Plus Jakarta Sans"/>
              </a:rPr>
              <a:t>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3031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65F46"/>
                </a:solidFill>
                <a:latin typeface="Plus Jakarta Sans"/>
              </a:rPr>
              <a:t>Data Mining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7253" y="3367087"/>
            <a:ext cx="120372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8468" y="4310062"/>
            <a:ext cx="160734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INPUT STAGE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8468" y="4491037"/>
            <a:ext cx="160734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Raw Stock 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5257" y="4310062"/>
            <a:ext cx="1833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STORAGE STAGE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5257" y="4491037"/>
            <a:ext cx="1833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Dimensional Schema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2312" y="4310062"/>
            <a:ext cx="1666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Plus Jakarta Sans"/>
              </a:rPr>
              <a:t>ANALYTICS STAGE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2312" y="4491037"/>
            <a:ext cx="1666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lus Jakarta Sans"/>
              </a:rPr>
              <a:t>Clusters &amp; Patterns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3298031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36231" y="2457450"/>
            <a:ext cx="3919537" cy="2886075"/>
          </a:xfrm>
          <a:prstGeom prst="roundRect">
            <a:avLst>
              <a:gd name="adj" fmla="val 396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84368" y="2886075"/>
            <a:ext cx="3298031" cy="2028825"/>
          </a:xfrm>
          <a:prstGeom prst="roundRect">
            <a:avLst>
              <a:gd name="adj" fmla="val 56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124200"/>
            <a:ext cx="2821781" cy="390525"/>
          </a:xfrm>
          <a:prstGeom prst="roundRect">
            <a:avLst>
              <a:gd name="adj" fmla="val 1951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02931" y="2724150"/>
            <a:ext cx="3386137" cy="409575"/>
          </a:xfrm>
          <a:prstGeom prst="roundRect">
            <a:avLst>
              <a:gd name="adj" fmla="val 1860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22493" y="3124200"/>
            <a:ext cx="2821781" cy="390525"/>
          </a:xfrm>
          <a:prstGeom prst="roundRect">
            <a:avLst>
              <a:gd name="adj" fmla="val 1951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2931" y="3286125"/>
            <a:ext cx="1635918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53150" y="3286125"/>
            <a:ext cx="1635918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02931" y="3762375"/>
            <a:ext cx="1635918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53150" y="3762375"/>
            <a:ext cx="1635918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2931" y="4238625"/>
            <a:ext cx="1635918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53150" y="4238625"/>
            <a:ext cx="1635918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02931" y="4714875"/>
            <a:ext cx="3386137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248025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331" y="285750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893" y="3248025"/>
            <a:ext cx="1333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DATA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Dimensional Warehouse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219450"/>
            <a:ext cx="3303537" cy="20002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Stock Dimension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3667125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Stock ID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(Primary Key)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943350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Symbol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(Ticker)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219575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Company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495800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Sector / Industry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5331" y="2819400"/>
            <a:ext cx="4044255" cy="21907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Stock Fact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181" y="3381375"/>
            <a:ext cx="15406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Stock ID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(FK)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3381375"/>
            <a:ext cx="15406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Date ID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(FK)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181" y="3857625"/>
            <a:ext cx="15406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Open / High Prices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8400" y="3857625"/>
            <a:ext cx="15406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Low / Close Prices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181" y="4333875"/>
            <a:ext cx="15406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Trading Volume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400" y="4333875"/>
            <a:ext cx="154066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Daily Return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181" y="4810125"/>
            <a:ext cx="32908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Price Change &amp; 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74893" y="3219450"/>
            <a:ext cx="3303537" cy="2000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Date Dimension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493" y="3667125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Date ID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(Primary Key)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493" y="3943350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Full Date Stamp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2493" y="4219575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Day / Month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493" y="4495800"/>
            <a:ext cx="352722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Quarter /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7794" y="1476375"/>
            <a:ext cx="5174605" cy="4848225"/>
          </a:xfrm>
          <a:prstGeom prst="roundRect">
            <a:avLst>
              <a:gd name="adj" fmla="val 2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76375"/>
            <a:ext cx="5569594" cy="8382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466975"/>
            <a:ext cx="5569594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638550"/>
            <a:ext cx="5569594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674494" y="5629275"/>
            <a:ext cx="464120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476375"/>
            <a:ext cx="38100" cy="8382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466975"/>
            <a:ext cx="38100" cy="10191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638550"/>
            <a:ext cx="38100" cy="10191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74494" y="2938462"/>
            <a:ext cx="4641205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74494" y="3395662"/>
            <a:ext cx="4641205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74494" y="3852862"/>
            <a:ext cx="4641205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74494" y="4310062"/>
            <a:ext cx="4641205" cy="36195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DATA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ETL Process &amp;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4494" y="1743075"/>
            <a:ext cx="551750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Preprocessing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4494" y="5743575"/>
            <a:ext cx="473645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Rigorous preprocessing directly improves mining quality and model 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1666875"/>
            <a:ext cx="67600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1943100"/>
            <a:ext cx="64381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Collect raw historical stock market records from dynamic data feeds.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57475"/>
            <a:ext cx="67600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TRANSFORM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2933700"/>
            <a:ext cx="524574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Clean missing values, deduplicate records, compute daily returns &amp; volatility trends.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829050"/>
            <a:ext cx="676002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4105275"/>
            <a:ext cx="524574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Populate standardized fact &amp; dimension schemas in the analytical warehouse.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7844" y="3033712"/>
            <a:ext cx="446975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✓ Missing-value handling &amp; Deduplication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7844" y="3490912"/>
            <a:ext cx="446975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✓ Date conversion &amp; Type standardization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7844" y="3948112"/>
            <a:ext cx="446975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✓ Return &amp; Price-change calculations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7844" y="4405312"/>
            <a:ext cx="446975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✓ Feature selection &amp; Normalization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4125"/>
            <a:ext cx="10972800" cy="1285875"/>
          </a:xfrm>
          <a:prstGeom prst="roundRect">
            <a:avLst>
              <a:gd name="adj" fmla="val 888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76375"/>
            <a:ext cx="2600325" cy="819150"/>
          </a:xfrm>
          <a:prstGeom prst="roundRect">
            <a:avLst>
              <a:gd name="adj" fmla="val 1162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1476375"/>
            <a:ext cx="2600325" cy="819150"/>
          </a:xfrm>
          <a:prstGeom prst="roundRect">
            <a:avLst>
              <a:gd name="adj" fmla="val 1162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476375"/>
            <a:ext cx="2600325" cy="819150"/>
          </a:xfrm>
          <a:prstGeom prst="roundRect">
            <a:avLst>
              <a:gd name="adj" fmla="val 1162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1476375"/>
            <a:ext cx="2600325" cy="819150"/>
          </a:xfrm>
          <a:prstGeom prst="roundRect">
            <a:avLst>
              <a:gd name="adj" fmla="val 1162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6300" y="3200400"/>
            <a:ext cx="1209675" cy="3429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79216" y="3200400"/>
            <a:ext cx="1181100" cy="3429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53557" y="3200400"/>
            <a:ext cx="1362075" cy="3429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08874" y="3200400"/>
            <a:ext cx="1076325" cy="3429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78440" y="3200400"/>
            <a:ext cx="1066800" cy="3429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38482" y="3200400"/>
            <a:ext cx="1076325" cy="342900"/>
          </a:xfrm>
          <a:prstGeom prst="roundRect">
            <a:avLst>
              <a:gd name="adj" fmla="val 16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208" y="3309937"/>
            <a:ext cx="1047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49" y="33099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866" y="3309937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432" y="3309937"/>
            <a:ext cx="10477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473" y="3309937"/>
            <a:ext cx="104775" cy="123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SEGMENTATION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Stock Trend Clustering (K-Means)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2790825"/>
            <a:ext cx="113157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K-Means Algorithmic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1666875"/>
            <a:ext cx="291286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Clustering Feature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" y="1905000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Average Daily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0925" y="1666875"/>
            <a:ext cx="291286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Clustering Feature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0925" y="1905000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Historical Volatility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1750" y="1666875"/>
            <a:ext cx="291286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Clustering Feature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1750" y="1905000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Average Trading Volume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575" y="1666875"/>
            <a:ext cx="291286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Clustering Feature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2575" y="1905000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Percentage Price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440" y="3295650"/>
            <a:ext cx="124539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CBD5E1"/>
                </a:solidFill>
                <a:latin typeface="Plus Jakarta Sans"/>
              </a:rPr>
              <a:t>Select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4928" y="3295650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CBD5E1"/>
                </a:solidFill>
                <a:latin typeface="Plus Jakarta Sans"/>
              </a:rPr>
              <a:t>Normalize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6648" y="3295650"/>
            <a:ext cx="143589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CBD5E1"/>
                </a:solidFill>
                <a:latin typeface="Plus Jakarta Sans"/>
              </a:rPr>
              <a:t>Choose K Clusters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9349" y="3295650"/>
            <a:ext cx="1095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CBD5E1"/>
                </a:solidFill>
                <a:latin typeface="Plus Jakarta Sans"/>
              </a:rPr>
              <a:t>Init Centroids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8915" y="3295650"/>
            <a:ext cx="10858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CBD5E1"/>
                </a:solidFill>
                <a:latin typeface="Plus Jakarta Sans"/>
              </a:rPr>
              <a:t>Assign Points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28957" y="3295650"/>
            <a:ext cx="10953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8FAFC"/>
                </a:solidFill>
                <a:latin typeface="Plus Jakarta Sans"/>
              </a:rPr>
              <a:t>Final Clusters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76375"/>
            <a:ext cx="4918323" cy="4848225"/>
          </a:xfrm>
          <a:prstGeom prst="roundRect">
            <a:avLst>
              <a:gd name="adj" fmla="val 2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94623" y="1476375"/>
            <a:ext cx="5787776" cy="4848225"/>
          </a:xfrm>
          <a:prstGeom prst="roundRect">
            <a:avLst>
              <a:gd name="adj" fmla="val 2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2085975"/>
            <a:ext cx="1390650" cy="3238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33625" y="2085975"/>
            <a:ext cx="1447800" cy="3238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76675" y="2085975"/>
            <a:ext cx="1390650" cy="3238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2505075"/>
            <a:ext cx="1790700" cy="3238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33675" y="2505075"/>
            <a:ext cx="1771650" cy="3238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23223" y="4210050"/>
            <a:ext cx="5330576" cy="40005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23223" y="4705350"/>
            <a:ext cx="5330576" cy="40005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23223" y="5200650"/>
            <a:ext cx="5330576" cy="400050"/>
          </a:xfrm>
          <a:prstGeom prst="roundRect">
            <a:avLst>
              <a:gd name="adj" fmla="val 1904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23223" y="5695950"/>
            <a:ext cx="5330576" cy="400050"/>
          </a:xfrm>
          <a:prstGeom prst="roundRect">
            <a:avLst>
              <a:gd name="adj" fmla="val 19047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PATTERN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Pattern Mining (Apriori Algorithm)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1714500"/>
            <a:ext cx="583022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Target Itemset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3223" y="1704975"/>
            <a:ext cx="616877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Apriori Workflow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2162175"/>
            <a:ext cx="11811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+ Positive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6025" y="2162175"/>
            <a:ext cx="1238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91C1C"/>
                </a:solidFill>
                <a:latin typeface="Plus Jakarta Sans"/>
              </a:rPr>
              <a:t>- Negative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9075" y="2162175"/>
            <a:ext cx="11811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⚡ High Volatility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2581275"/>
            <a:ext cx="1581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45309"/>
                </a:solidFill>
                <a:latin typeface="Plus Jakarta Sans"/>
              </a:rPr>
              <a:t>📊 High Trading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6075" y="2581275"/>
            <a:ext cx="15621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📉 Low Trading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5623" y="4324350"/>
            <a:ext cx="1619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Transaction Itemsets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53725" y="4324350"/>
            <a:ext cx="733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EA5E9"/>
                </a:solidFill>
                <a:latin typeface="Plus Jakarta Sans"/>
              </a:rPr>
              <a:t>Stage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5623" y="4819650"/>
            <a:ext cx="1476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Support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150" y="4819650"/>
            <a:ext cx="762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EA5E9"/>
                </a:solidFill>
                <a:latin typeface="Plus Jakarta Sans"/>
              </a:rPr>
              <a:t>Stage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5623" y="5314950"/>
            <a:ext cx="2274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Plus Jakarta Sans"/>
              </a:rPr>
              <a:t>Frequent Itemsets 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5625" y="5314950"/>
            <a:ext cx="7715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EA5E9"/>
                </a:solidFill>
                <a:latin typeface="Plus Jakarta Sans"/>
              </a:rPr>
              <a:t>Stage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5623" y="5810250"/>
            <a:ext cx="3000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Plus Jakarta Sans"/>
              </a:rPr>
              <a:t>Association Rules (Confidence &amp; Lift)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6025" y="5810250"/>
            <a:ext cx="1381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Plus Jakarta Sans"/>
              </a:rPr>
              <a:t>Final Rule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76375"/>
            <a:ext cx="4925317" cy="4848225"/>
          </a:xfrm>
          <a:prstGeom prst="roundRect">
            <a:avLst>
              <a:gd name="adj" fmla="val 23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801617" y="1476375"/>
            <a:ext cx="5780782" cy="4848225"/>
          </a:xfrm>
          <a:prstGeom prst="roundRect">
            <a:avLst>
              <a:gd name="adj" fmla="val 235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2181225"/>
            <a:ext cx="7429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724025" y="2181225"/>
            <a:ext cx="752475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71750" y="2181225"/>
            <a:ext cx="7429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09950" y="2181225"/>
            <a:ext cx="102870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2619375"/>
            <a:ext cx="847725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28800" y="2619375"/>
            <a:ext cx="1647825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71875" y="2619375"/>
            <a:ext cx="15811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90700"/>
            <a:ext cx="2381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TECHNICAL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Implementation &amp; Tech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1752600"/>
            <a:ext cx="5739389" cy="23812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Core Technologies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8317" y="1743075"/>
            <a:ext cx="612368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0B981"/>
                </a:solidFill>
                <a:latin typeface="Plus Jakarta Sans"/>
              </a:rPr>
              <a:t>Implementation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225742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7375" y="2257425"/>
            <a:ext cx="5810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5100" y="225742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NumPy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2257425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Scikit-learn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2695575"/>
            <a:ext cx="6762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MLxtend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2150" y="2695575"/>
            <a:ext cx="14763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MySQL /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5225" y="2695575"/>
            <a:ext cx="1409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Matplotlib / Seaborn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567" y="2114550"/>
            <a:ext cx="95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8817" y="2133600"/>
            <a:ext cx="5933182" cy="18097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Load Data: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Ingest historical stock market datasets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4992" y="2390775"/>
            <a:ext cx="12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8817" y="2409825"/>
            <a:ext cx="5933182" cy="18097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Clean &amp; Transform: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Deduplicate &amp; process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4992" y="2667000"/>
            <a:ext cx="12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8817" y="2686050"/>
            <a:ext cx="5933182" cy="18097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Warehouse Storage: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Query structured relational tables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4992" y="2943225"/>
            <a:ext cx="12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8817" y="2962275"/>
            <a:ext cx="5933182" cy="18097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Feature Extraction: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Calculate volatility &amp; indicators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4992" y="3219450"/>
            <a:ext cx="12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8817" y="3238500"/>
            <a:ext cx="5933182" cy="18097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Apply Mining: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Execute K-Means clustering &amp; Apriori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34992" y="3495675"/>
            <a:ext cx="123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8817" y="3514725"/>
            <a:ext cx="5933182" cy="180975"/>
          </a:xfrm>
          <a:prstGeom prst="rect">
            <a:avLst/>
          </a:prstGeom>
          <a:noFill/>
        </p:spPr>
        <p:txBody>
          <a:bodyPr wrap="none" lIns="123825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CBD5E1"/>
                </a:solidFill>
                <a:latin typeface="Plus Jakarta Sans"/>
              </a:rPr>
              <a:t>Visualization: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Generate insightful trend charts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8AE0-646A-6E91-CF3A-8834F804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-31334"/>
            <a:ext cx="8229600" cy="1143000"/>
          </a:xfrm>
        </p:spPr>
        <p:txBody>
          <a:bodyPr/>
          <a:lstStyle/>
          <a:p>
            <a:r>
              <a:rPr lang="en-US" b="1" dirty="0"/>
              <a:t>UI(User Interface)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0AF40-A4E5-AFD7-6183-E3750A5C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292" y="941649"/>
            <a:ext cx="7983415" cy="55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04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5210-CCF5-5C20-C2E2-FA4B477AD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B7E3-8C6B-40A4-A000-5F52B51F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-31334"/>
            <a:ext cx="8229600" cy="1143000"/>
          </a:xfrm>
        </p:spPr>
        <p:txBody>
          <a:bodyPr/>
          <a:lstStyle/>
          <a:p>
            <a:r>
              <a:rPr lang="en-US" b="1" dirty="0"/>
              <a:t>Explorer</a:t>
            </a:r>
          </a:p>
        </p:txBody>
      </p:sp>
      <p:pic>
        <p:nvPicPr>
          <p:cNvPr id="3" name="Picture 2" descr="MarketMiner Explorer page screenshot." title="MarketMiner Explorer page screenshot.">
            <a:extLst>
              <a:ext uri="{FF2B5EF4-FFF2-40B4-BE49-F238E27FC236}">
                <a16:creationId xmlns:a16="http://schemas.microsoft.com/office/drawing/2014/main" id="{8EE51A8D-38D5-11F8-B5BB-3AAD35700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943433"/>
            <a:ext cx="8032738" cy="55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65931-3BCA-B7AE-6F8F-55740895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1F382-26DE-F701-750C-E39FB25FD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-31334"/>
            <a:ext cx="8229600" cy="1143000"/>
          </a:xfrm>
        </p:spPr>
        <p:txBody>
          <a:bodyPr/>
          <a:lstStyle/>
          <a:p>
            <a:r>
              <a:rPr lang="en-US" b="1" dirty="0"/>
              <a:t>OLAP</a:t>
            </a:r>
          </a:p>
        </p:txBody>
      </p:sp>
      <p:pic>
        <p:nvPicPr>
          <p:cNvPr id="4" name="Picture 3" descr="MarketMiner OLAP page screenshot." title="MarketMiner OLAP page screenshot.">
            <a:extLst>
              <a:ext uri="{FF2B5EF4-FFF2-40B4-BE49-F238E27FC236}">
                <a16:creationId xmlns:a16="http://schemas.microsoft.com/office/drawing/2014/main" id="{CEA2DB5E-8721-2FA6-A1AE-D4295D013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311" y="1111666"/>
            <a:ext cx="7540112" cy="523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847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ED7D-EEC1-141C-C159-9F4119A5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2441-6434-477C-E160-571C4C99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-31334"/>
            <a:ext cx="8229600" cy="1143000"/>
          </a:xfrm>
        </p:spPr>
        <p:txBody>
          <a:bodyPr/>
          <a:lstStyle/>
          <a:p>
            <a:r>
              <a:rPr lang="en-US" b="1" dirty="0" err="1"/>
              <a:t>PreProcess</a:t>
            </a:r>
            <a:endParaRPr lang="en-US" b="1" dirty="0"/>
          </a:p>
        </p:txBody>
      </p:sp>
      <p:pic>
        <p:nvPicPr>
          <p:cNvPr id="5" name="Picture 4" descr="MarketMiner Preprocess page screenshot." title="MarketMiner Preprocess page screenshot.">
            <a:extLst>
              <a:ext uri="{FF2B5EF4-FFF2-40B4-BE49-F238E27FC236}">
                <a16:creationId xmlns:a16="http://schemas.microsoft.com/office/drawing/2014/main" id="{AB6B846B-9C6D-8481-1F6A-25A9A447A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437" y="1111666"/>
            <a:ext cx="8511125" cy="531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25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0E4B-0697-87E2-E9C2-CEF40224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78E3-E55F-F0E8-85B5-B8F95082D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-31334"/>
            <a:ext cx="8229600" cy="1143000"/>
          </a:xfrm>
        </p:spPr>
        <p:txBody>
          <a:bodyPr/>
          <a:lstStyle/>
          <a:p>
            <a:r>
              <a:rPr lang="en-US" b="1" dirty="0"/>
              <a:t>Clustering</a:t>
            </a:r>
          </a:p>
        </p:txBody>
      </p:sp>
      <p:pic>
        <p:nvPicPr>
          <p:cNvPr id="3" name="Picture 2" descr="MarketMiner Clustering page screenshot." title="MarketMiner Clustering page screenshot.">
            <a:extLst>
              <a:ext uri="{FF2B5EF4-FFF2-40B4-BE49-F238E27FC236}">
                <a16:creationId xmlns:a16="http://schemas.microsoft.com/office/drawing/2014/main" id="{59E0E8CC-32C8-63D9-6200-1A95D4971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698" y="948654"/>
            <a:ext cx="8370449" cy="550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868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812E-C72D-455C-A664-5659800A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E3973-B067-8997-E5C2-F1FC99C0F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19374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Clustering — regime diagnostics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4" name="Picture 3" descr="High-resolution graph close-up: PCA regime map." title="PCA regime map">
            <a:extLst>
              <a:ext uri="{FF2B5EF4-FFF2-40B4-BE49-F238E27FC236}">
                <a16:creationId xmlns:a16="http://schemas.microsoft.com/office/drawing/2014/main" id="{2E488388-274B-8E22-4F3E-CA7D2414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90" y="1458033"/>
            <a:ext cx="4892040" cy="2957195"/>
          </a:xfrm>
          <a:prstGeom prst="rect">
            <a:avLst/>
          </a:prstGeom>
        </p:spPr>
      </p:pic>
      <p:pic>
        <p:nvPicPr>
          <p:cNvPr id="5" name="Picture 4" descr="High-resolution graph close-up: Silhouette score by cluster count." title="Silhouette score by cluster count">
            <a:extLst>
              <a:ext uri="{FF2B5EF4-FFF2-40B4-BE49-F238E27FC236}">
                <a16:creationId xmlns:a16="http://schemas.microsoft.com/office/drawing/2014/main" id="{2961EDD9-0F8E-DF6F-A5CA-F7471ECD1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672" y="1458033"/>
            <a:ext cx="4892040" cy="29635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5A5CCD-7F51-5A1A-A0F5-50D5C9AA8426}"/>
              </a:ext>
            </a:extLst>
          </p:cNvPr>
          <p:cNvSpPr txBox="1"/>
          <p:nvPr/>
        </p:nvSpPr>
        <p:spPr>
          <a:xfrm>
            <a:off x="597288" y="4407875"/>
            <a:ext cx="4892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Mangal" panose="02040503050203030202" pitchFamily="18" charset="0"/>
              </a:rPr>
              <a:t>PCA regime map. Each point is a rolling window, colored by its assigned regime.</a:t>
            </a:r>
            <a:endParaRPr lang="en-US" sz="1000" dirty="0">
              <a:solidFill>
                <a:srgbClr val="303936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Mangal" panose="02040503050203030202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9471F-6C27-0810-67B8-CBA69915046B}"/>
              </a:ext>
            </a:extLst>
          </p:cNvPr>
          <p:cNvSpPr txBox="1"/>
          <p:nvPr/>
        </p:nvSpPr>
        <p:spPr>
          <a:xfrm>
            <a:off x="6702672" y="4421578"/>
            <a:ext cx="4892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effectLst/>
                <a:latin typeface="+mn-lt"/>
                <a:ea typeface="MS Mincho" panose="02020609040205080304" pitchFamily="49" charset="-128"/>
                <a:cs typeface="Mangal" panose="02040503050203030202" pitchFamily="18" charset="0"/>
              </a:rPr>
              <a:t>Silhouette score by cluster count. Higher values indicate better separation on this diagnostic scale.</a:t>
            </a:r>
            <a:endParaRPr lang="en-US" sz="1000" dirty="0">
              <a:solidFill>
                <a:srgbClr val="303936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175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175C6-4523-9BA2-E9B1-3E496352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8FB2-94F4-3252-66A6-487F9191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-31334"/>
            <a:ext cx="8229600" cy="1143000"/>
          </a:xfrm>
        </p:spPr>
        <p:txBody>
          <a:bodyPr/>
          <a:lstStyle/>
          <a:p>
            <a:r>
              <a:rPr lang="en-US" b="1" dirty="0"/>
              <a:t>Patterns</a:t>
            </a:r>
          </a:p>
        </p:txBody>
      </p:sp>
      <p:pic>
        <p:nvPicPr>
          <p:cNvPr id="4" name="Picture 3" descr="MarketMiner Patterns page screenshot." title="MarketMiner Patterns page screenshot.">
            <a:extLst>
              <a:ext uri="{FF2B5EF4-FFF2-40B4-BE49-F238E27FC236}">
                <a16:creationId xmlns:a16="http://schemas.microsoft.com/office/drawing/2014/main" id="{82BFD27C-89B9-CC87-C972-F6E9BCDB1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04" y="956921"/>
            <a:ext cx="8636392" cy="544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060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78AAC-A90E-EEE7-5647-98E9044C0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7ED1-412F-2C84-5C27-5BB7A639D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089" y="-31334"/>
            <a:ext cx="8229600" cy="1143000"/>
          </a:xfrm>
        </p:spPr>
        <p:txBody>
          <a:bodyPr/>
          <a:lstStyle/>
          <a:p>
            <a:r>
              <a:rPr lang="en-US" b="1" dirty="0"/>
              <a:t>Backtest</a:t>
            </a:r>
          </a:p>
        </p:txBody>
      </p:sp>
      <p:pic>
        <p:nvPicPr>
          <p:cNvPr id="3" name="Picture 2" descr="MarketMiner Backtest page screenshot." title="MarketMiner Backtest page screenshot.">
            <a:extLst>
              <a:ext uri="{FF2B5EF4-FFF2-40B4-BE49-F238E27FC236}">
                <a16:creationId xmlns:a16="http://schemas.microsoft.com/office/drawing/2014/main" id="{52D7E2D8-E8F1-1DE4-3458-8FE9C717B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286" y="897074"/>
            <a:ext cx="8989427" cy="53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953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76375"/>
            <a:ext cx="5353050" cy="4848225"/>
          </a:xfrm>
          <a:prstGeom prst="roundRect">
            <a:avLst>
              <a:gd name="adj" fmla="val 235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1476375"/>
            <a:ext cx="5353050" cy="4848225"/>
          </a:xfrm>
          <a:prstGeom prst="roundRect">
            <a:avLst>
              <a:gd name="adj" fmla="val 235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9070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1790700"/>
            <a:ext cx="19050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Advantages &amp;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1752600"/>
            <a:ext cx="6300787" cy="2381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Plus Jakarta Sans"/>
              </a:rPr>
              <a:t>Key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1752600"/>
            <a:ext cx="5686425" cy="2381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75985"/>
                </a:solidFill>
                <a:latin typeface="Plus Jakarta Sans"/>
              </a:rPr>
              <a:t>Practical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14312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4532D"/>
                </a:solidFill>
                <a:latin typeface="Plus Jakarta Sans"/>
              </a:rPr>
              <a:t>Organized Historical Storage: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Faster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438400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4532D"/>
                </a:solidFill>
                <a:latin typeface="Plus Jakarta Sans"/>
              </a:rPr>
              <a:t>Handles Large Datasets: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Scalable ETL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733675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4532D"/>
                </a:solidFill>
                <a:latin typeface="Plus Jakarta Sans"/>
              </a:rPr>
              <a:t>Behavior Identification: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Groups similar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028950"/>
            <a:ext cx="60007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4532D"/>
                </a:solidFill>
                <a:latin typeface="Plus Jakarta Sans"/>
              </a:rPr>
              <a:t>Automated Discovery:</a:t>
            </a:r>
            <a:r>
              <a:rPr sz="1125" b="0" i="0" u="none">
                <a:solidFill>
                  <a:srgbClr val="14532D"/>
                </a:solidFill>
                <a:latin typeface="Plus Jakarta Sans"/>
              </a:rPr>
              <a:t> Uncovers hidden stock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2143125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C4A6E"/>
                </a:solidFill>
                <a:latin typeface="Plus Jakarta Sans"/>
              </a:rPr>
              <a:t>Stock Market Segmentation:</a:t>
            </a:r>
            <a:r>
              <a:rPr sz="1125" b="0" i="0" u="none">
                <a:solidFill>
                  <a:srgbClr val="0C4A6E"/>
                </a:solidFill>
                <a:latin typeface="Plus Jakarta Sans"/>
              </a:rPr>
              <a:t> Portfolio grouping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2438400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C4A6E"/>
                </a:solidFill>
                <a:latin typeface="Plus Jakarta Sans"/>
              </a:rPr>
              <a:t>Financial Research:</a:t>
            </a:r>
            <a:r>
              <a:rPr sz="1125" b="0" i="0" u="none">
                <a:solidFill>
                  <a:srgbClr val="0C4A6E"/>
                </a:solidFill>
                <a:latin typeface="Plus Jakarta Sans"/>
              </a:rPr>
              <a:t> Academic market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2733675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C4A6E"/>
                </a:solidFill>
                <a:latin typeface="Plus Jakarta Sans"/>
              </a:rPr>
              <a:t>Decision Support Systems:</a:t>
            </a:r>
            <a:r>
              <a:rPr sz="1125" b="0" i="0" u="none">
                <a:solidFill>
                  <a:srgbClr val="0C4A6E"/>
                </a:solidFill>
                <a:latin typeface="Plus Jakarta Sans"/>
              </a:rPr>
              <a:t> Data-driven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3028950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C4A6E"/>
                </a:solidFill>
                <a:latin typeface="Plus Jakarta Sans"/>
              </a:rPr>
              <a:t>Data Mining Sandbox:</a:t>
            </a:r>
            <a:r>
              <a:rPr sz="1125" b="0" i="0" u="none">
                <a:solidFill>
                  <a:srgbClr val="0C4A6E"/>
                </a:solidFill>
                <a:latin typeface="Plus Jakarta Sans"/>
              </a:rPr>
              <a:t> Algorithm benchmarking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743575"/>
            <a:ext cx="10972800" cy="581025"/>
          </a:xfrm>
          <a:prstGeom prst="roundRect">
            <a:avLst>
              <a:gd name="adj" fmla="val 1967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76375"/>
            <a:ext cx="539115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1476375"/>
            <a:ext cx="539115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647950"/>
            <a:ext cx="539115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647950"/>
            <a:ext cx="5391150" cy="981075"/>
          </a:xfrm>
          <a:prstGeom prst="roundRect">
            <a:avLst>
              <a:gd name="adj" fmla="val 97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1476375"/>
            <a:ext cx="38100" cy="9810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0" y="1476375"/>
            <a:ext cx="38100" cy="981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647950"/>
            <a:ext cx="38100" cy="9810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1250" y="2647950"/>
            <a:ext cx="38100" cy="9810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0" y="5938837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5934075"/>
            <a:ext cx="6905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MarketMiner delivers a end-to-end framework for historical stock analytics.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1666875"/>
            <a:ext cx="65258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Practical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1924050"/>
            <a:ext cx="5067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Demonstrates practical synergy between Data Warehousing and Data Mining principles.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1666875"/>
            <a:ext cx="5772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Structured 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1924050"/>
            <a:ext cx="5067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ETL cleans raw data, transforming unstructured records into query-ready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2838450"/>
            <a:ext cx="652581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Pattern &amp; Trend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3095625"/>
            <a:ext cx="6215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Clustering and association rule mining uncover key market relationships.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2838450"/>
            <a:ext cx="57721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Academic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850" y="3095625"/>
            <a:ext cx="50673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Designed for educational, research, and analytical evaluation, not guaranteed financial advice.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572000"/>
            <a:ext cx="10972800" cy="167640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81150"/>
            <a:ext cx="123825" cy="14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76425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71700"/>
            <a:ext cx="180975" cy="142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EA5E9"/>
                </a:solidFill>
                <a:latin typeface="Plus Jakarta Sans"/>
              </a:rPr>
              <a:t>BIBLIOGRAPHY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953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Key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8264" y="4953000"/>
            <a:ext cx="377547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625" y="5648325"/>
            <a:ext cx="21907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0B981"/>
                </a:solidFill>
                <a:latin typeface="Plus Jakarta Sans"/>
              </a:rPr>
              <a:t>Questions &amp; Answers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52575"/>
            <a:ext cx="1158240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Jiawei Han, Micheline Kamber &amp; Jian Pei – </a:t>
            </a:r>
            <a:r>
              <a:rPr sz="1125" b="0" i="1" u="none">
                <a:solidFill>
                  <a:srgbClr val="94A3B8"/>
                </a:solidFill>
                <a:latin typeface="Plus Jakarta Sans"/>
              </a:rPr>
              <a:t>Data Mining: Concepts and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847850"/>
            <a:ext cx="11582400" cy="1809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Ralph Kimball &amp; Margy Ross – </a:t>
            </a:r>
            <a:r>
              <a:rPr sz="1125" b="0" i="1" u="none">
                <a:solidFill>
                  <a:srgbClr val="94A3B8"/>
                </a:solidFill>
                <a:latin typeface="Plus Jakarta Sans"/>
              </a:rPr>
              <a:t>The Data Warehouse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143125"/>
            <a:ext cx="11582400" cy="180975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Plus Jakarta Sans"/>
              </a:rPr>
              <a:t>Official Documentation: Python, Pandas, NumPy, Scikit-learn, &amp; Matplotlib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751</Words>
  <Application>Microsoft Office PowerPoint</Application>
  <PresentationFormat>Widescreen</PresentationFormat>
  <Paragraphs>179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Plus Jakarta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UI(User Interface)</vt:lpstr>
      <vt:lpstr>Explorer</vt:lpstr>
      <vt:lpstr>OLAP</vt:lpstr>
      <vt:lpstr>PreProcess</vt:lpstr>
      <vt:lpstr>Clustering</vt:lpstr>
      <vt:lpstr>Clustering — regime diagnostics </vt:lpstr>
      <vt:lpstr>Patterns</vt:lpstr>
      <vt:lpstr>Backtest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Luxury Lifestyle Motivation</cp:lastModifiedBy>
  <cp:revision>2</cp:revision>
  <dcterms:created xsi:type="dcterms:W3CDTF">2013-01-27T09:14:16Z</dcterms:created>
  <dcterms:modified xsi:type="dcterms:W3CDTF">2026-10-01T05:02:23Z</dcterms:modified>
  <cp:category/>
</cp:coreProperties>
</file>